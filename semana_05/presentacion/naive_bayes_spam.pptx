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f77bf86bdb4b41" /><Relationship Type="http://schemas.openxmlformats.org/officeDocument/2006/relationships/extended-properties" Target="/docProps/app.xml" Id="R595b564a3bb14045" /><Relationship Type="http://schemas.openxmlformats.org/officeDocument/2006/relationships/officeDocument" Target="/ppt/presentation.xml" Id="Rc396377e4d334b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80dad84e834c5e"/>
  </p:sldMasterIdLst>
  <p:notesMasterIdLst>
    <p:notesMasterId xmlns:r="http://schemas.openxmlformats.org/officeDocument/2006/relationships" r:id="R45ff6c0344ba4cf8"/>
  </p:notesMasterIdLst>
  <p:sldIdLst>
    <p:sldId xmlns:r="http://schemas.openxmlformats.org/officeDocument/2006/relationships" id="256" r:id="R1332e3296fcf409b"/>
    <p:sldId xmlns:r="http://schemas.openxmlformats.org/officeDocument/2006/relationships" id="257" r:id="R68dd6511f79649b1"/>
    <p:sldId xmlns:r="http://schemas.openxmlformats.org/officeDocument/2006/relationships" id="258" r:id="R530f3d2df1c24848"/>
    <p:sldId xmlns:r="http://schemas.openxmlformats.org/officeDocument/2006/relationships" id="259" r:id="Rf0bd2709e16d4b93"/>
    <p:sldId xmlns:r="http://schemas.openxmlformats.org/officeDocument/2006/relationships" id="260" r:id="Rd2c2204c98e8406c"/>
    <p:sldId xmlns:r="http://schemas.openxmlformats.org/officeDocument/2006/relationships" id="261" r:id="R54fa2b508cef48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7065989387482a" /><Relationship Type="http://schemas.openxmlformats.org/officeDocument/2006/relationships/slideMaster" Target="/ppt/slideMasters/slideMaster1.xml" Id="Re680dad84e834c5e" /><Relationship Type="http://schemas.openxmlformats.org/officeDocument/2006/relationships/notesMaster" Target="/ppt/notesMasters/notesMaster1.xml" Id="R45ff6c0344ba4cf8" /><Relationship Type="http://schemas.openxmlformats.org/officeDocument/2006/relationships/presProps" Target="/ppt/presProps.xml" Id="R172e0d07d900469d" /><Relationship Type="http://schemas.openxmlformats.org/officeDocument/2006/relationships/tableStyles" Target="/ppt/tableStyles.xml" Id="Rb2d53cc6f1914398" /><Relationship Type="http://schemas.openxmlformats.org/officeDocument/2006/relationships/slide" Target="/ppt/slides/slide1.xml" Id="R1332e3296fcf409b" /><Relationship Type="http://schemas.openxmlformats.org/officeDocument/2006/relationships/slide" Target="/ppt/slides/slide2.xml" Id="R68dd6511f79649b1" /><Relationship Type="http://schemas.openxmlformats.org/officeDocument/2006/relationships/slide" Target="/ppt/slides/slide3.xml" Id="R530f3d2df1c24848" /><Relationship Type="http://schemas.openxmlformats.org/officeDocument/2006/relationships/slide" Target="/ppt/slides/slide4.xml" Id="Rf0bd2709e16d4b93" /><Relationship Type="http://schemas.openxmlformats.org/officeDocument/2006/relationships/slide" Target="/ppt/slides/slide5.xml" Id="Rd2c2204c98e8406c" /><Relationship Type="http://schemas.openxmlformats.org/officeDocument/2006/relationships/slide" Target="/ppt/slides/slide6.xml" Id="R54fa2b508cef48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127ed9377246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0079150d3844da" /><Relationship Type="http://schemas.openxmlformats.org/officeDocument/2006/relationships/notesMaster" Target="/ppt/notesMasters/notesMaster1.xml" Id="Re23fce22be8447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566885915c4d73" /><Relationship Type="http://schemas.openxmlformats.org/officeDocument/2006/relationships/notesMaster" Target="/ppt/notesMasters/notesMaster1.xml" Id="Rf323c5c7474749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059369e0f940e2" /><Relationship Type="http://schemas.openxmlformats.org/officeDocument/2006/relationships/notesMaster" Target="/ppt/notesMasters/notesMaster1.xml" Id="R433373a7f59a4a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13337457a94d4f" /><Relationship Type="http://schemas.openxmlformats.org/officeDocument/2006/relationships/notesMaster" Target="/ppt/notesMasters/notesMaster1.xml" Id="R13fade52336a46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b577ee566740bf" /><Relationship Type="http://schemas.openxmlformats.org/officeDocument/2006/relationships/notesMaster" Target="/ppt/notesMasters/notesMaster1.xml" Id="Rdfa01e0f00e341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d4e63561484559" /><Relationship Type="http://schemas.openxmlformats.org/officeDocument/2006/relationships/notesMaster" Target="/ppt/notesMasters/notesMaster1.xml" Id="Rdd38f5acfbf1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ad4d02ef845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3f8df16bf45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825708a5341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9077e3df748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3de7e6a144e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d3c42ed66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62CA91-E014-4099-A5DF-A554FBAC7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795602-7563-411F-942F-9D9EB34C98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777570-2954-4928-A1E4-7A3C88DF8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1BBAC2-CA58-42B8-973E-E548337F1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B60355-3872-4EB4-A534-F970BA1CE1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2F6C1B-68C0-40D2-80E7-125D555F2B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49757B-C459-4B53-BAC2-6C247B2F98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B3DC5C-A1A1-4906-8143-92B898E7B5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14061F-903D-48AC-AFA7-8D9F1488D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A5BEBF-5A2B-402C-8041-AA0E036A0F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5cd2f38e8c4de3" /><Relationship Type="http://schemas.openxmlformats.org/officeDocument/2006/relationships/slideLayout" Target="/ppt/slideLayouts/slideLayout1.xml" Id="R8b674cdbfb314743" /><Relationship Type="http://schemas.openxmlformats.org/officeDocument/2006/relationships/slideLayout" Target="/ppt/slideLayouts/slideLayout2.xml" Id="R3822e0c09c284f57" /><Relationship Type="http://schemas.openxmlformats.org/officeDocument/2006/relationships/slideLayout" Target="/ppt/slideLayouts/slideLayout3.xml" Id="R7641db323a2141c6" /><Relationship Type="http://schemas.openxmlformats.org/officeDocument/2006/relationships/slideLayout" Target="/ppt/slideLayouts/slideLayout4.xml" Id="R4e06edcb322843e0" /><Relationship Type="http://schemas.openxmlformats.org/officeDocument/2006/relationships/slideLayout" Target="/ppt/slideLayouts/slideLayout5.xml" Id="Rff679e00a6104a33" /><Relationship Type="http://schemas.openxmlformats.org/officeDocument/2006/relationships/slideLayout" Target="/ppt/slideLayouts/slideLayout6.xml" Id="Rc5860fedc64f43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74cdbfb314743"/>
    <p:sldLayoutId xmlns:r="http://schemas.openxmlformats.org/officeDocument/2006/relationships" id="2147483650" r:id="R3822e0c09c284f57"/>
    <p:sldLayoutId xmlns:r="http://schemas.openxmlformats.org/officeDocument/2006/relationships" id="2147483651" r:id="R7641db323a2141c6"/>
    <p:sldLayoutId xmlns:r="http://schemas.openxmlformats.org/officeDocument/2006/relationships" id="2147483652" r:id="R4e06edcb322843e0"/>
    <p:sldLayoutId xmlns:r="http://schemas.openxmlformats.org/officeDocument/2006/relationships" id="2147483653" r:id="Rff679e00a6104a33"/>
    <p:sldLayoutId xmlns:r="http://schemas.openxmlformats.org/officeDocument/2006/relationships" id="2147483654" r:id="Rc5860fedc64f43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6b32c30f64a2a" /><Relationship Type="http://schemas.openxmlformats.org/officeDocument/2006/relationships/notesSlide" Target="/ppt/notesSlides/notesSlide1.xml" Id="Rdde94b758d4f41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62193d3864297" /><Relationship Type="http://schemas.openxmlformats.org/officeDocument/2006/relationships/notesSlide" Target="/ppt/notesSlides/notesSlide2.xml" Id="Rb0193c1b8c2e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0420254274a4a" /><Relationship Type="http://schemas.openxmlformats.org/officeDocument/2006/relationships/notesSlide" Target="/ppt/notesSlides/notesSlide3.xml" Id="Rf9dcb2e174914d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2b3b4418b460b" /><Relationship Type="http://schemas.openxmlformats.org/officeDocument/2006/relationships/notesSlide" Target="/ppt/notesSlides/notesSlide4.xml" Id="Rc63ce4fd079d47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0a791d36a4a79" /><Relationship Type="http://schemas.openxmlformats.org/officeDocument/2006/relationships/chart" Target="/ppt/slides/charts/chart1.xml" Id="Rd99071d1e07f4f5f" /><Relationship Type="http://schemas.openxmlformats.org/officeDocument/2006/relationships/notesSlide" Target="/ppt/notesSlides/notesSlide5.xml" Id="Re73bcf4440194a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82fcc43e342e7" /><Relationship Type="http://schemas.openxmlformats.org/officeDocument/2006/relationships/notesSlide" Target="/ppt/notesSlides/notesSlide6.xml" Id="R0adfaa43f5af4b5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Probabilidad normalizada</c:v>
          </c:tx>
          <c:spPr>
            <a:solidFill xmlns:a="http://schemas.openxmlformats.org/drawingml/2006/main">
              <a:srgbClr val="286D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49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7271"/>
              </a:solidFill>
            </c:spPr>
          </c:dPt>
          <c:cat>
            <c:strLit>
              <c:ptCount val="2"/>
              <c:pt idx="0">
                <c:v>Spam</c:v>
              </c:pt>
              <c:pt idx="1">
                <c:v>Legítimo</c:v>
              </c:pt>
            </c:strLit>
          </c:cat>
          <c:val>
            <c:numLit>
              <c:formatCode>General</c:formatCode>
              <c:ptCount val="2"/>
              <c:pt idx="0">
                <c:v>76.87</c:v>
              </c:pt>
              <c:pt idx="1">
                <c:v>23.13</c:v>
              </c:pt>
            </c:numLit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3EA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6504B-399C-4D06-9311-A6825AD8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894EF-495E-4EC2-B26B-738E25DE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Naive Bayes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634C2-5A41-4867-B29C-648583DD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DCE6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CE6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6F0"/>
                </a:solidFill>
                <a:latin typeface="Arial"/>
                <a:ea typeface="Arial"/>
                <a:cs typeface="Arial"/>
              </a:rPr>
              <a:t>Clasificación de mensajes spam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325B6-1A10-4982-BB68-D3C4BAD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B9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B942"/>
                </a:solidFill>
                <a:latin typeface="Arial"/>
                <a:ea typeface="Arial"/>
                <a:cs typeface="Arial"/>
              </a:rPr>
              <a:t>Del cálculo en la pizarra a la ejecución en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DCEC2-B23C-40B8-8F81-267B60F7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2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C2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2D4"/>
                </a:solidFill>
                <a:latin typeface="Arial"/>
                <a:ea typeface="Arial"/>
                <a:cs typeface="Arial"/>
              </a:rPr>
              <a:t>Inteligencia Artificial · Semana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AA6C6-0E9A-490E-B7E7-A69DBFE1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8120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DFC00-57B7-4475-9989-266B250B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2619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7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LEGÍTIMO</a:t>
            </a:r>
          </a:p>
        </p:txBody>
      </p:sp>
    </p:spTree>
    <p:extLst>
      <p:ext uri="{BB962C8B-B14F-4D97-AF65-F5344CB8AC3E}">
        <p14:creationId xmlns:p14="http://schemas.microsoft.com/office/powerpoint/2010/main" val="306534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EA3DF-AC4C-4182-AC98-FE36242F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Ocho mensajes para aprender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41B92-7E44-4101-8F25-DE16E55C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7B4EB-C73A-46BC-98E0-8793BEA1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A6964-9FF1-4EA2-85C7-D08B4AE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Cada mensaje aporta palabras y una etiqueta conocida.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CB605-0439-409B-8854-444760ADF003}"/>
              </a:ext>
            </a:extLst>
          </p:cNvPr>
          <p:cNvGraphicFramePr/>
          <p:nvPr/>
        </p:nvGraphicFramePr>
        <p:xfrm>
          <a:off xmlns:a="http://schemas.openxmlformats.org/drawingml/2006/main" x="1428750" y="1790700"/>
          <a:ext xmlns:a="http://schemas.openxmlformats.org/drawingml/2006/main" cx="9334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0"/>
                <a:gridCol w="2286000"/>
              </a:tblGrid>
              <a:tr h="476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Mensaje</a:t>
                      </a:r>
                    </a:p>
                  </a:txBody>
                  <a:tcPr marL="133350" marR="13335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Clase</a:t>
                      </a:r>
                    </a:p>
                  </a:txBody>
                  <a:tcPr marL="133350" marR="133350" marT="76200" marB="76200" anchor="ctr">
                    <a:solidFill>
                      <a:srgbClr val="102A4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gana un premio ahora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reclama tu premio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oferta exclusiva hoy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recibe dinero rápido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nos vemos mañana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entrega la tarea mañana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reunión de clase hoy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puedes traer el material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327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C7EEF-5876-4074-A8C0-2619C395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Probabilidad previa de cada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FDE47-5E57-4EC3-8FE2-7613526B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9BEE0-E5B6-4E73-A859-33E48289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D1F40-4912-40FC-89E1-23E3850C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Antes de leer el mensaje nuevo, contamos cuántos ejemplos tiene cada clase.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5CAD1-EF53-4B9C-A7ED-4FAAA0D1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BFBEA-BDD5-48E8-A779-0C449D66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4 mensajes spam de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03CD6-DF36-4208-9E8B-846C1163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4305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P(spam) = 4 / 8 = 0.50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7FCE4-7962-4925-9CF0-576E4540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A9E55-3517-45A7-BCB9-C0626480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4 mensajes legítimos de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7B138-D22D-490B-92DF-1B5380CB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4305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P(legítimo) = 4 / 8 = 0.50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54E76-A2D6-4358-A00C-8F474FDB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Ambas clases comienzan con la misma probabilidad. Las palabras del mensaje inclinarán la decisión.</a:t>
            </a:r>
          </a:p>
        </p:txBody>
      </p:sp>
    </p:spTree>
    <p:extLst>
      <p:ext uri="{BB962C8B-B14F-4D97-AF65-F5344CB8AC3E}">
        <p14:creationId xmlns:p14="http://schemas.microsoft.com/office/powerpoint/2010/main" val="817317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94AAE-D7C7-41C4-9B72-29AB9B73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mensaje nuevo: “premio hoy”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73D62-17D0-4FC4-9AB0-D995B883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422FC-2769-4630-A156-31E5F878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5B612-4BC8-4C17-8EF4-1B70810D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El vocabulario contiene 25 palabras. Spam suma 13 palabras y legítimo suma 15.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2D417-6084-4192-825A-D121840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2863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94618-228E-445C-8154-5D4E469A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4829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Evidencia para spam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1B289-B00E-496A-9B65-C5D43C7B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48291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P(premio | spam) = (2 + 1) / (13 + 25) = 3/38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P(hoy | spam) = (1 + 1) / 38 = 2/38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C553C-0144-4804-89A1-39511128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2863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E6E58-CB59-4450-A24E-D2742E05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24075"/>
            <a:ext cx="4829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Evidencia para legítimo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A52F3-A2C9-4E4E-B3AD-E788CEBA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05075"/>
            <a:ext cx="48291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P(premio | legítimo) = (0 + 1) / (15 + 25) = 1/40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P(hoy | legítimo) = (1 + 1) / 40 = 2/40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6D1FC-8C35-45AB-BAC9-972E8BD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+1 es el suavizado de Laplace. Evita que una palabra ausente convierta todo el puntaje en cero.</a:t>
            </a:r>
          </a:p>
        </p:txBody>
      </p:sp>
    </p:spTree>
    <p:extLst>
      <p:ext uri="{BB962C8B-B14F-4D97-AF65-F5344CB8AC3E}">
        <p14:creationId xmlns:p14="http://schemas.microsoft.com/office/powerpoint/2010/main" val="1642298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7B551-3C82-4379-9369-ADC23EC9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Resultado de la clasificación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8A581-90C5-4C91-A40F-56E6B56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64641-8C09-453C-A972-8848683C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EE6B7-C942-4491-9535-69D47663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Puntajes sin normalizar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05ECB-BB7C-420A-A42B-82780E1D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spam = 0.50 × 3/38 × 2/38 = 0.002078</a:t>
            </a:r>
          </a:p>
          <a:p xmlns:a="http://schemas.openxmlformats.org/drawingml/2006/main">
            <a:pPr algn="l">
              <a:defRPr sz="165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legítimo = 0.50 × 1/40 × 2/40 = 0.000625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52398-FA34-4242-A3C6-A7A42F6E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6E649-E3AC-417F-8017-287F5F04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El puntaje spam es 3.3 veces mayor.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F688BE2-8E6A-4CDD-8E53-0C3884C41EB8}"/>
              </a:ext>
            </a:extLst>
          </p:cNvPr>
          <p:cNvGraphicFramePr/>
          <p:nvPr/>
        </p:nvGraphicFramePr>
        <p:xfrm>
          <a:off xmlns:a="http://schemas.openxmlformats.org/drawingml/2006/main" x="6191250" y="1524000"/>
          <a:ext xmlns:a="http://schemas.openxmlformats.org/drawingml/2006/main" cx="476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9071d1e07f4f5f"/>
          </a:graphicData>
        </a:graphic>
      </p:graphicFrame>
    </p:spTree>
    <p:extLst>
      <p:ext uri="{BB962C8B-B14F-4D97-AF65-F5344CB8AC3E}">
        <p14:creationId xmlns:p14="http://schemas.microsoft.com/office/powerpoint/2010/main" val="1590071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DB0BD-EFA1-4274-B7FF-FCA4DCB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mismo caso en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D5655-5907-4F41-ADE2-D99C0561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BA428-6182-426C-8137-61C19D56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D4D74-5104-4C3A-BBF0-78057214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Cálculo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2A8C-159E-4447-AD30-B1A71465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381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probabilidad_previa = documentos_clase / total_documentos</a:t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puntaje = log(probabilidad_previa)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palabra in palabras:</a:t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puntaje += log(P(palabra | clase))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8172D-4ECE-4BBE-BE2A-EEA554A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498DF-A1C9-43E2-8515-7A47FE9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33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 codigo\naive_bayes_spam.py --solo-pizarra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Mensaje nuevo: "premio hoy"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P(spam) = 4/8 = 0.500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P(legitimo) = 4/8 = 0.500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Probabilidad spam: 76.87%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Probabilidad legitimo: 23.13%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Predicción: SPAM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2C5D0-D418-43CF-AD4C-1AECF16D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Después, sin --solo-pizarra, el programa evalúa el CSV completo y abre la visualización.</a:t>
            </a:r>
          </a:p>
        </p:txBody>
      </p:sp>
    </p:spTree>
    <p:extLst>
      <p:ext uri="{BB962C8B-B14F-4D97-AF65-F5344CB8AC3E}">
        <p14:creationId xmlns:p14="http://schemas.microsoft.com/office/powerpoint/2010/main" val="1366602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2026-10-09T05:51:09.1400000Z</dcterms:created>
  <dcterms:modified xsi:type="dcterms:W3CDTF">2026-10-09T05:51:09.1400000Z</dcterms:modified>
</coreProperties>
</file>