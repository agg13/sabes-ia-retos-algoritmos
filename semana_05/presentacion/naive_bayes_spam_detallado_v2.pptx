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c4bd9936a7404e" /><Relationship Type="http://schemas.openxmlformats.org/officeDocument/2006/relationships/extended-properties" Target="/docProps/app.xml" Id="R96cccad65cd048de" /><Relationship Type="http://schemas.openxmlformats.org/officeDocument/2006/relationships/officeDocument" Target="/ppt/presentation.xml" Id="Rba0aae33a94d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58a7fdeccc4ed6"/>
  </p:sldMasterIdLst>
  <p:notesMasterIdLst>
    <p:notesMasterId xmlns:r="http://schemas.openxmlformats.org/officeDocument/2006/relationships" r:id="Rf325ab2cfda24170"/>
  </p:notesMasterIdLst>
  <p:sldIdLst>
    <p:sldId xmlns:r="http://schemas.openxmlformats.org/officeDocument/2006/relationships" id="256" r:id="R14c5ea387f7442ab"/>
    <p:sldId xmlns:r="http://schemas.openxmlformats.org/officeDocument/2006/relationships" id="257" r:id="Rb79e313e9c114d46"/>
    <p:sldId xmlns:r="http://schemas.openxmlformats.org/officeDocument/2006/relationships" id="258" r:id="Rb15ec3839ee94541"/>
    <p:sldId xmlns:r="http://schemas.openxmlformats.org/officeDocument/2006/relationships" id="259" r:id="R4b2e26b8e4304085"/>
    <p:sldId xmlns:r="http://schemas.openxmlformats.org/officeDocument/2006/relationships" id="260" r:id="R4f0398d7174e48d0"/>
    <p:sldId xmlns:r="http://schemas.openxmlformats.org/officeDocument/2006/relationships" id="261" r:id="Reebe3ca1deec46f2"/>
    <p:sldId xmlns:r="http://schemas.openxmlformats.org/officeDocument/2006/relationships" id="262" r:id="Rc4bd1df5a08c4e99"/>
    <p:sldId xmlns:r="http://schemas.openxmlformats.org/officeDocument/2006/relationships" id="263" r:id="R4d10a366380c4fb7"/>
    <p:sldId xmlns:r="http://schemas.openxmlformats.org/officeDocument/2006/relationships" id="264" r:id="Rf045834240bf4239"/>
    <p:sldId xmlns:r="http://schemas.openxmlformats.org/officeDocument/2006/relationships" id="265" r:id="Rf6fd324a976b42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cebe25355440a" /><Relationship Type="http://schemas.openxmlformats.org/officeDocument/2006/relationships/slideMaster" Target="/ppt/slideMasters/slideMaster1.xml" Id="R2858a7fdeccc4ed6" /><Relationship Type="http://schemas.openxmlformats.org/officeDocument/2006/relationships/notesMaster" Target="/ppt/notesMasters/notesMaster1.xml" Id="Rf325ab2cfda24170" /><Relationship Type="http://schemas.openxmlformats.org/officeDocument/2006/relationships/presProps" Target="/ppt/presProps.xml" Id="R584f98098d41406f" /><Relationship Type="http://schemas.openxmlformats.org/officeDocument/2006/relationships/tableStyles" Target="/ppt/tableStyles.xml" Id="R64d95f56352c4a68" /><Relationship Type="http://schemas.openxmlformats.org/officeDocument/2006/relationships/slide" Target="/ppt/slides/slide1.xml" Id="R14c5ea387f7442ab" /><Relationship Type="http://schemas.openxmlformats.org/officeDocument/2006/relationships/slide" Target="/ppt/slides/slide2.xml" Id="Rb79e313e9c114d46" /><Relationship Type="http://schemas.openxmlformats.org/officeDocument/2006/relationships/slide" Target="/ppt/slides/slide3.xml" Id="Rb15ec3839ee94541" /><Relationship Type="http://schemas.openxmlformats.org/officeDocument/2006/relationships/slide" Target="/ppt/slides/slide4.xml" Id="R4b2e26b8e4304085" /><Relationship Type="http://schemas.openxmlformats.org/officeDocument/2006/relationships/slide" Target="/ppt/slides/slide5.xml" Id="R4f0398d7174e48d0" /><Relationship Type="http://schemas.openxmlformats.org/officeDocument/2006/relationships/slide" Target="/ppt/slides/slide6.xml" Id="Reebe3ca1deec46f2" /><Relationship Type="http://schemas.openxmlformats.org/officeDocument/2006/relationships/slide" Target="/ppt/slides/slide7.xml" Id="Rc4bd1df5a08c4e99" /><Relationship Type="http://schemas.openxmlformats.org/officeDocument/2006/relationships/slide" Target="/ppt/slides/slide8.xml" Id="R4d10a366380c4fb7" /><Relationship Type="http://schemas.openxmlformats.org/officeDocument/2006/relationships/slide" Target="/ppt/slides/slide9.xml" Id="Rf045834240bf4239" /><Relationship Type="http://schemas.openxmlformats.org/officeDocument/2006/relationships/slide" Target="/ppt/slides/slide10.xml" Id="Rf6fd324a976b42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024add0d148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1b56d4abd4770" /><Relationship Type="http://schemas.openxmlformats.org/officeDocument/2006/relationships/notesMaster" Target="/ppt/notesMasters/notesMaster1.xml" Id="R9f07c9ed137145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b3127c84054891" /><Relationship Type="http://schemas.openxmlformats.org/officeDocument/2006/relationships/notesMaster" Target="/ppt/notesMasters/notesMaster1.xml" Id="Rb5c087892bc6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b48af3b023443a" /><Relationship Type="http://schemas.openxmlformats.org/officeDocument/2006/relationships/notesMaster" Target="/ppt/notesMasters/notesMaster1.xml" Id="R5dcbc2ee5e3140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2604658154c44" /><Relationship Type="http://schemas.openxmlformats.org/officeDocument/2006/relationships/notesMaster" Target="/ppt/notesMasters/notesMaster1.xml" Id="Ra1e17e7985ce49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8cf4197cb64fad" /><Relationship Type="http://schemas.openxmlformats.org/officeDocument/2006/relationships/notesMaster" Target="/ppt/notesMasters/notesMaster1.xml" Id="Rb5961dfa11c847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6865efaf014c16" /><Relationship Type="http://schemas.openxmlformats.org/officeDocument/2006/relationships/notesMaster" Target="/ppt/notesMasters/notesMaster1.xml" Id="R163d3c3c481946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76dc29cafd4a60" /><Relationship Type="http://schemas.openxmlformats.org/officeDocument/2006/relationships/notesMaster" Target="/ppt/notesMasters/notesMaster1.xml" Id="R09f8719c397449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e22ce98d0e4072" /><Relationship Type="http://schemas.openxmlformats.org/officeDocument/2006/relationships/notesMaster" Target="/ppt/notesMasters/notesMaster1.xml" Id="R2c6fd6386cad4b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4e9da5ea424f0a" /><Relationship Type="http://schemas.openxmlformats.org/officeDocument/2006/relationships/notesMaster" Target="/ppt/notesMasters/notesMaster1.xml" Id="Rbf9db8447aa148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cc88cded62411c" /><Relationship Type="http://schemas.openxmlformats.org/officeDocument/2006/relationships/notesMaster" Target="/ppt/notesMasters/notesMaster1.xml" Id="Rb30c0547697c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54aa4f61541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e9552058542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a292b8ae64a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0a83579094e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fd93f2ead42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87a287b40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0FA290-BE56-4DFB-A0C0-3912F4AD6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C56C004-DC5C-46FF-B273-72D60DF47E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37F835-D990-4B10-A92D-EBDAE4D03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939E73-0092-4D6E-B60C-E602FA160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B13DBF-F280-4872-BE73-DB610A4654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281AEE3-BF4D-4893-8EBC-E36BB4F02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2AFB42-23ED-4BA8-884A-3B27F30D7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F598E1-3F10-42BD-B9CA-557EB3C33B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B6F2BE-1FC0-44E4-8F76-568EEC3F1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F2B0C2-EA3B-4C9E-B37F-E59B355DAF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1996c4b8b47a9" /><Relationship Type="http://schemas.openxmlformats.org/officeDocument/2006/relationships/slideLayout" Target="/ppt/slideLayouts/slideLayout1.xml" Id="Ra1ee6f75946b49a3" /><Relationship Type="http://schemas.openxmlformats.org/officeDocument/2006/relationships/slideLayout" Target="/ppt/slideLayouts/slideLayout2.xml" Id="R1c617154e5074046" /><Relationship Type="http://schemas.openxmlformats.org/officeDocument/2006/relationships/slideLayout" Target="/ppt/slideLayouts/slideLayout3.xml" Id="Rfe951cb080ae457f" /><Relationship Type="http://schemas.openxmlformats.org/officeDocument/2006/relationships/slideLayout" Target="/ppt/slideLayouts/slideLayout4.xml" Id="R4aadf5664d0140db" /><Relationship Type="http://schemas.openxmlformats.org/officeDocument/2006/relationships/slideLayout" Target="/ppt/slideLayouts/slideLayout5.xml" Id="R824eeafb42074d9a" /><Relationship Type="http://schemas.openxmlformats.org/officeDocument/2006/relationships/slideLayout" Target="/ppt/slideLayouts/slideLayout6.xml" Id="R09162bbb4f52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ee6f75946b49a3"/>
    <p:sldLayoutId xmlns:r="http://schemas.openxmlformats.org/officeDocument/2006/relationships" id="2147483650" r:id="R1c617154e5074046"/>
    <p:sldLayoutId xmlns:r="http://schemas.openxmlformats.org/officeDocument/2006/relationships" id="2147483651" r:id="Rfe951cb080ae457f"/>
    <p:sldLayoutId xmlns:r="http://schemas.openxmlformats.org/officeDocument/2006/relationships" id="2147483652" r:id="R4aadf5664d0140db"/>
    <p:sldLayoutId xmlns:r="http://schemas.openxmlformats.org/officeDocument/2006/relationships" id="2147483653" r:id="R824eeafb42074d9a"/>
    <p:sldLayoutId xmlns:r="http://schemas.openxmlformats.org/officeDocument/2006/relationships" id="2147483654" r:id="R09162bbb4f52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7ac5ae2a44615" /><Relationship Type="http://schemas.openxmlformats.org/officeDocument/2006/relationships/notesSlide" Target="/ppt/notesSlides/notesSlide1.xml" Id="R50fe98cd3ccb45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4984b03984301" /><Relationship Type="http://schemas.openxmlformats.org/officeDocument/2006/relationships/notesSlide" Target="/ppt/notesSlides/notesSlide2.xml" Id="Rd81d962826f141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b757be5c0498a" /><Relationship Type="http://schemas.openxmlformats.org/officeDocument/2006/relationships/notesSlide" Target="/ppt/notesSlides/notesSlide3.xml" Id="R937d3c6fb3af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22f3a089e4620" /><Relationship Type="http://schemas.openxmlformats.org/officeDocument/2006/relationships/notesSlide" Target="/ppt/notesSlides/notesSlide4.xml" Id="R478cd5f2c6be4a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938f0e9a341fb" /><Relationship Type="http://schemas.openxmlformats.org/officeDocument/2006/relationships/notesSlide" Target="/ppt/notesSlides/notesSlide5.xml" Id="R8e4efe7543c0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5c828c4fb4f03" /><Relationship Type="http://schemas.openxmlformats.org/officeDocument/2006/relationships/notesSlide" Target="/ppt/notesSlides/notesSlide6.xml" Id="Ra0aa7dd6ad9b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efb0d833e4377" /><Relationship Type="http://schemas.openxmlformats.org/officeDocument/2006/relationships/notesSlide" Target="/ppt/notesSlides/notesSlide7.xml" Id="Rd0fc82946af54c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0fd46d37c426a" /><Relationship Type="http://schemas.openxmlformats.org/officeDocument/2006/relationships/notesSlide" Target="/ppt/notesSlides/notesSlide8.xml" Id="Rf41b7c9a6dc24c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f48c9711114b62" /><Relationship Type="http://schemas.openxmlformats.org/officeDocument/2006/relationships/chart" Target="/ppt/slides/charts/chart1.xml" Id="R43ad7398b56f463c" /><Relationship Type="http://schemas.openxmlformats.org/officeDocument/2006/relationships/notesSlide" Target="/ppt/notesSlides/notesSlide9.xml" Id="R36a6217699074e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6b4cee18d4c02" /><Relationship Type="http://schemas.openxmlformats.org/officeDocument/2006/relationships/notesSlide" Target="/ppt/notesSlides/notesSlide10.xml" Id="R82143f4b559443f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Probabilidad normalizada</c:v>
          </c:tx>
          <c:spPr>
            <a:solidFill xmlns:a="http://schemas.openxmlformats.org/drawingml/2006/main">
              <a:srgbClr val="286D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1495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7271"/>
              </a:solidFill>
            </c:spPr>
          </c:dPt>
          <c:cat>
            <c:strLit>
              <c:ptCount val="2"/>
              <c:pt idx="0">
                <c:v>Spam</c:v>
              </c:pt>
              <c:pt idx="1">
                <c:v>Legítimo</c:v>
              </c:pt>
            </c:strLit>
          </c:cat>
          <c:val>
            <c:numLit>
              <c:formatCode>General</c:formatCode>
              <c:ptCount val="2"/>
              <c:pt idx="0">
                <c:v>76.87</c:v>
              </c:pt>
              <c:pt idx="1">
                <c:v>23.13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3EA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B715C-05F8-4E2A-AC20-BDBA3DA7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66275-1423-468E-901A-3F8B2CB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Naive Bayes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6A08B-CC1F-4250-9A0C-C2174E35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6F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6F0"/>
                </a:solidFill>
                <a:latin typeface="Arial"/>
                <a:ea typeface="Arial"/>
                <a:cs typeface="Arial"/>
              </a:rPr>
              <a:t>Clasificación de mensajes spam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EBEAD-AEA9-482A-BFDE-FDD7F477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B942"/>
                </a:solidFill>
                <a:latin typeface="Arial"/>
                <a:ea typeface="Arial"/>
                <a:cs typeface="Arial"/>
              </a:rPr>
              <a:t>Del cálculo en la pizarra a la ejecución en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1DC7E-58C8-4D5D-87D3-22E1FF2B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FC2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2D4"/>
                </a:solidFill>
                <a:latin typeface="Arial"/>
                <a:ea typeface="Arial"/>
                <a:cs typeface="Arial"/>
              </a:rPr>
              <a:t>Inteligencia Artificial · Semana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6FEE8-1FD7-43C7-9B6F-3AE6BCC1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81200"/>
            <a:ext cx="219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D3AA9-FCC2-49C7-A8EC-5C22AB3D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619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27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LEGÍTIMO</a:t>
            </a:r>
          </a:p>
        </p:txBody>
      </p:sp>
    </p:spTree>
    <p:extLst>
      <p:ext uri="{BB962C8B-B14F-4D97-AF65-F5344CB8AC3E}">
        <p14:creationId xmlns:p14="http://schemas.microsoft.com/office/powerpoint/2010/main" val="774820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89484-B386-4795-BA86-CDCABE8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Ocho mensajes para aprender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AF72F-5E1B-4D24-9183-CB3A870D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3938-2B6D-49C8-A91D-5E76511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01B9F-CD54-41E9-8885-D1FA94C8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Cada mensaje aporta palabras y una etiqueta conocida.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72089-C5E5-447E-9BE9-949190F2A7FB}"/>
              </a:ext>
            </a:extLst>
          </p:cNvPr>
          <p:cNvGraphicFramePr/>
          <p:nvPr/>
        </p:nvGraphicFramePr>
        <p:xfrm>
          <a:off xmlns:a="http://schemas.openxmlformats.org/drawingml/2006/main" x="1428750" y="1790700"/>
          <a:ext xmlns:a="http://schemas.openxmlformats.org/drawingml/2006/main" cx="9334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0"/>
                <a:gridCol w="2286000"/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Mensaje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Clase</a:t>
                      </a:r>
                    </a:p>
                  </a:txBody>
                  <a:tcPr marL="133350" marR="133350" marT="76200" marB="76200" anchor="ctr">
                    <a:solidFill>
                      <a:srgbClr val="10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gana un premio ahora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reclama tu premio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oferta exclusiva hoy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recibe dinero rápido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</a:t>
                      </a:r>
                    </a:p>
                  </a:txBody>
                  <a:tcPr marL="133350" marR="133350" marT="66675" marB="66675" anchor="ctr">
                    <a:solidFill>
                      <a:srgbClr val="FBEAE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nos vemos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entrega la tarea mañana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reunión de clase hoy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puedes traer el material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legítimo</a:t>
                      </a:r>
                    </a:p>
                  </a:txBody>
                  <a:tcPr marL="133350" marR="133350" marT="66675" marB="66675" anchor="ctr">
                    <a:solidFill>
                      <a:srgbClr val="E7F2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74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20D26-E15C-4E6E-A1CD-C552A4B8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Total de palabras en cada clase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0C087-199D-41C0-BABE-772F5669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D9690-E266-4BE1-84B4-B257EF81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71BD7-CAFD-4165-B717-D2EA1839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Contamos todas las apariciones, incluso cuando una palabra se repite.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8E1A7-7E7A-4BC8-8398-5B4115A9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2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BF742-7EEE-4F30-B385-93277D43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gana un premio ahora   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reclama tu premio   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oferta exclusiva hoy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recibe dinero rápido                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6AE46-7FCE-4510-96C8-752B661E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+ 3 + 3 + 3 = 13 palabras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6E0EB-6105-4829-A02A-EE390BE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872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8727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7271"/>
                </a:solidFill>
                <a:latin typeface="Arial"/>
                <a:ea typeface="Arial"/>
                <a:cs typeface="Arial"/>
              </a:rPr>
              <a:t>LEGÍTIMO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5E0C2-06AA-4D28-ABA9-0C82A0C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nos vemos mañana                     3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entrega la tarea mañana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reunión de clase hoy                 4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puedes traer el material            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7DF1B-4455-4671-8E6A-00146A9E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243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+ 4 + 4 + 4 = 15 palabras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B8C851-11CF-408E-B45E-31A3AC2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Los denominadores de Laplace usarán estos totales: 13 para spam y 15 para legítimo.</a:t>
            </a:r>
          </a:p>
        </p:txBody>
      </p:sp>
    </p:spTree>
    <p:extLst>
      <p:ext uri="{BB962C8B-B14F-4D97-AF65-F5344CB8AC3E}">
        <p14:creationId xmlns:p14="http://schemas.microsoft.com/office/powerpoint/2010/main" val="1422398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0E429-36BB-41CD-8E70-AE2BD4C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Vocabulario de 25 palabras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5D890-6BFD-49AE-BAFD-0A48CEA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EE8ED-3585-44DE-AE9B-98E56C1D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E29E-3876-4739-A12D-6FB67DDC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El vocabulario cuenta palabras diferentes en los ocho mensajes.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A1B84-4EBF-4145-9E1B-5FDD803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ahora, clase, de, dinero, el, entrega, exclusiva, gana, hoy,</a:t>
            </a:r>
          </a:p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la, mañana, material, nos, oferta, premio, puedes, rápido,</a:t>
            </a:r>
          </a:p>
          <a:p xmlns:a="http://schemas.openxmlformats.org/drawingml/2006/main">
            <a:pPr algn="ctr">
              <a:defRPr sz="18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recibe, reclama, reunión, tarea, traer, tu, un, vemos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DE400-E2DC-41A1-AB07-7558B4D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6D118-45C4-434D-A6D8-DD43A3D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Palabras distintas en spam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C63D2-9EAC-405F-AEA8-277167AF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9A21-FC67-48F8-8B67-C7EA7B5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A44F7-9FF8-43A7-A23C-C65F559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053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Palabras distintas en legítimo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E659B-C149-4A0C-A4EF-F3A726D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4AB7C-B0E2-4F1E-80DB-17272650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81500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AB610-A4AD-4BFC-B332-5E4440C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5529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303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“hoy” aparece en ambas clases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ED441-8B4E-4AC6-9750-90BC8BF3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3395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12 + 14 − 1 = 25</a:t>
            </a:r>
          </a:p>
        </p:txBody>
      </p:sp>
    </p:spTree>
    <p:extLst>
      <p:ext uri="{BB962C8B-B14F-4D97-AF65-F5344CB8AC3E}">
        <p14:creationId xmlns:p14="http://schemas.microsoft.com/office/powerpoint/2010/main" val="214169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3CB3B-C6CA-4714-BDC3-98D20E2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Fórmula de Bayes para dos palabras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2953C-048B-440D-8D96-1D308D3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98135-2CA5-42FB-ABA5-BE32299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2EE16-DC25-4108-87C8-1A6CB144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Mensaje nuevo: “premio hoy”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F11DB-EB2D-4DF1-BAC1-8C1B18A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019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P(C | premio, hoy) = P(premio, hoy | C) × P(C) / P(premio, hoy)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D469B-DBD0-4766-B851-084A2830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Suposición ingenua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BDF38-44BA-4D1B-9064-50E6E436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704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P(premio, hoy | C) ≈ P(premio | C) × P(hoy | 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91DFA-5174-4033-A7CE-2A988FE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4476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E3F46-938C-4A74-957D-67AB299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43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spam de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D755B-7B09-478F-9691-0E173A3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24450"/>
            <a:ext cx="4019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P(spam) = 4/8 = 0.50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41F0E-DC71-481C-8999-8E0455C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72000"/>
            <a:ext cx="44767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084F9-1102-4D8F-B5BB-8872C83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7434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4 mensajes legítimos de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ED984-2252-4648-B575-F64F71BD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124450"/>
            <a:ext cx="4019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P(legítimo) = 4/8 = 0.50</a:t>
            </a:r>
          </a:p>
        </p:txBody>
      </p:sp>
    </p:spTree>
    <p:extLst>
      <p:ext uri="{BB962C8B-B14F-4D97-AF65-F5344CB8AC3E}">
        <p14:creationId xmlns:p14="http://schemas.microsoft.com/office/powerpoint/2010/main" val="283802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7BD2A-003E-4C5D-933A-4F0FEAF7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Conteos de “premio” y “hoy”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BC9FD-4EF8-459D-8C9C-4E9253E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C440E-DCC7-4F28-BFCD-E059302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4BC57-EDEE-43CF-8ACA-54E26535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Buscamos cada palabra del mensaje nuevo dentro de los ocho mensajes de entrenamiento.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6B095-D7A7-45C7-AC1B-791F16C3084F}"/>
              </a:ext>
            </a:extLst>
          </p:cNvPr>
          <p:cNvGraphicFramePr/>
          <p:nvPr/>
        </p:nvGraphicFramePr>
        <p:xfrm>
          <a:off xmlns:a="http://schemas.openxmlformats.org/drawingml/2006/main" x="1000125" y="2047875"/>
          <a:ext xmlns:a="http://schemas.openxmlformats.org/drawingml/2006/main" cx="1019175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619250"/>
                <a:gridCol w="1809750"/>
                <a:gridCol w="4953000"/>
              </a:tblGrid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Palabra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spam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 legítimo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Origen del conteo</a:t>
                      </a:r>
                    </a:p>
                  </a:txBody>
                  <a:tcPr marL="114300" marR="114300" marT="76200" marB="76200" anchor="ctr">
                    <a:solidFill>
                      <a:srgbClr val="102A4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premio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 1 y 2; no aparece en legítimo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hoy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Spam 3 y legítimo 7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6B367-347A-45F1-84B8-4875302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Estos cuatro conteos son los numeradores antes del suavizado: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E3B4C-D926-4FA4-A9E8-203C793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71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spam: premio = 2, hoy = 1       legítimo: premio = 0, hoy = 1</a:t>
            </a:r>
          </a:p>
        </p:txBody>
      </p:sp>
    </p:spTree>
    <p:extLst>
      <p:ext uri="{BB962C8B-B14F-4D97-AF65-F5344CB8AC3E}">
        <p14:creationId xmlns:p14="http://schemas.microsoft.com/office/powerpoint/2010/main" val="1322897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85659-BD09-40AF-A234-4F76C82A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Probabilidades con suavizado de Laplace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6AC0E-E43D-44F6-B2A4-4C64C1A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110AA-59C6-41F8-9FF9-57A04B7B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2BD50-4C79-4006-9C3F-5EA7DE0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85875"/>
            <a:ext cx="1019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P(palabra | clase) = (conteo + 1) / (total de palabras de la clase + V)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2A373-B9DD-4E98-BFC0-A1A711E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5429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4F2B2-CEA3-4A62-B99B-63DF96D1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0507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Spam: denominador = 13 + 25 = 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F3FF8-E5C5-42D9-AB4C-A5444B92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49720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spam) = (2+1)/38 = 3/38 = 0.078947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spam) = (1+1)/38 = 2/38 = 0.052632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66E85-0475-447A-87DC-F237A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5429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96158-AA21-40B8-A2B5-AF7633C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0507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Legítimo: denominador = 15 + 25 = 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F9F44-C821-4655-B0C2-95C6ADC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49720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P(premio | legítimo) = (0+1)/40 = 1/40 = 0.025000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P(hoy | legítimo) = (1+1)/40 = 2/40 = 0.050000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3C53B-43A2-4C01-A65B-E81F9557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914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+1 evita que P(premio | legítimo) sea cero y anule todo el puntaje legítimo.</a:t>
            </a:r>
          </a:p>
        </p:txBody>
      </p:sp>
    </p:spTree>
    <p:extLst>
      <p:ext uri="{BB962C8B-B14F-4D97-AF65-F5344CB8AC3E}">
        <p14:creationId xmlns:p14="http://schemas.microsoft.com/office/powerpoint/2010/main" val="6234408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49ED3-F4F5-4B3E-A294-186F879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Puntajes sin normalizar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88ACA-F2CE-448F-A326-01E7AA9F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BBCB-93A3-4569-8100-1DB9FEB3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C6EEA-21A6-414A-9256-50EF436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B7A"/>
                </a:solidFill>
                <a:latin typeface="Arial"/>
                <a:ea typeface="Arial"/>
                <a:cs typeface="Arial"/>
              </a:rPr>
              <a:t>Para comparar clases usamos P(C) × P(premio | C) × P(hoy | C).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A99B3-AD37-4A15-9BBB-38D302EC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4762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6560-D01A-4D65-AA00-6F43B3D1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193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Puntaje de spam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A009E-5628-4F9A-AEDB-CA0579D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00325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0.50 × 3/38 × 2/38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3/1444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0.00207756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4F13B-8C9D-4663-89A3-B2791CD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76250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7F2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1DDAA-E4CB-42C2-8F2B-F96D3EF3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1932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D6B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B7A"/>
                </a:solidFill>
                <a:latin typeface="Arial"/>
                <a:ea typeface="Arial"/>
                <a:cs typeface="Arial"/>
              </a:rPr>
              <a:t>Puntaje de legítimo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8CADD-4278-4C03-A6FA-8CAF5F4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0325"/>
            <a:ext cx="430530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0.50 × 1/40 × 2/40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1/1600</a:t>
            </a:r>
          </a:p>
          <a:p xmlns:a="http://schemas.openxmlformats.org/drawingml/2006/main">
            <a:pPr algn="ctr">
              <a:defRPr sz="21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= 0.00062500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BA679-D6B2-4544-93B6-C4F6C37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006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0.00207756 &gt; 0.00062500</a:t>
            </a:r>
          </a:p>
        </p:txBody>
      </p:sp>
    </p:spTree>
    <p:extLst>
      <p:ext uri="{BB962C8B-B14F-4D97-AF65-F5344CB8AC3E}">
        <p14:creationId xmlns:p14="http://schemas.microsoft.com/office/powerpoint/2010/main" val="18549893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77F8D-2FEA-4B94-9B00-F920EB71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Normalización y predicción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94788-DB45-454D-B87A-30CE79DB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64357-51DF-4D65-9B5B-475BB0C7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19207-53F8-40E1-B09E-F267F917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23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Suma = 0.00207756 + 0.00062500 = 0.00270256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F6E8D-0E83-45D5-B379-629EA76A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P(spam | mensaje) = 0.00207756 / 0.00270256 = 76.87%</a:t>
            </a:r>
          </a:p>
          <a:p xmlns:a="http://schemas.openxmlformats.org/drawingml/2006/main">
            <a:pPr algn="l">
              <a:defRPr sz="1500" b="0">
                <a:solidFill>
                  <a:srgbClr val="172B4D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72B4D"/>
                </a:solidFill>
                <a:latin typeface="Consolas"/>
                <a:ea typeface="Consolas"/>
                <a:cs typeface="Consolas"/>
              </a:rPr>
              <a:t>P(legítimo | mensaje) = 0.00062500 / 0.00270256 = 23.13%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642CE-A08A-4C6E-B795-D383F2B7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SPAM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F48A458-DE22-4337-8DD8-4790F6D5A0B3}"/>
              </a:ext>
            </a:extLst>
          </p:cNvPr>
          <p:cNvGraphicFramePr/>
          <p:nvPr/>
        </p:nvGraphicFramePr>
        <p:xfrm>
          <a:off xmlns:a="http://schemas.openxmlformats.org/drawingml/2006/main" x="6191250" y="1524000"/>
          <a:ext xmlns:a="http://schemas.openxmlformats.org/drawingml/2006/main" cx="4762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ad7398b56f463c"/>
          </a:graphicData>
        </a:graphic>
      </p:graphicFrame>
    </p:spTree>
    <p:extLst>
      <p:ext uri="{BB962C8B-B14F-4D97-AF65-F5344CB8AC3E}">
        <p14:creationId xmlns:p14="http://schemas.microsoft.com/office/powerpoint/2010/main" val="1341064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1318-66B8-4EF0-BE20-E1DB6A2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mismo cálculo en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26ACE-ACE1-4B2B-8B25-53A8D79B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350" b="1">
                <a:solidFill>
                  <a:srgbClr val="286D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DA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7964D-2794-49D8-804E-5E40225F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D4B13-8519-40CA-898C-164F3CC0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Cálculo central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43D80-8881-4EF7-BCA4-DB1472B5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81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probabilidad_previa = documentos_clase / total_documentos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puntaje = log(probabilidad_previa)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palabra in palabras:</a:t>
            </a:r>
          </a:p>
          <a:p xmlns:a="http://schemas.openxmlformats.org/drawingml/2006/main">
            <a:pPr algn="l">
              <a:defRPr sz="1425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puntaje += log(P(palabra | clase))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9E9B2-E421-4463-8032-A0FD0F63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92141-E15E-411A-9080-596700E1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33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5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 codigo\naive_bayes_spam.py --solo-pizarra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Documentos: 8    Vocabulario: 25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Spam: 13 palabras    Legítimo: 15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P(premio|spam) = 3/38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P(hoy|spam) = 2/38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P(spam|mensaje) = 76.87%</a:t>
            </a:r>
          </a:p>
          <a:p xmlns:a="http://schemas.openxmlformats.org/drawingml/2006/main">
            <a:pPr algn="l">
              <a:defRPr sz="1350" b="0">
                <a:solidFill>
                  <a:srgbClr val="E6ED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Predicción: SPAM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A423C-2D7F-445A-8A6B-E5B21BFC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Después, sin --solo-pizarra, el programa evalúa el CSV completo y abre la visualización.</a:t>
            </a:r>
          </a:p>
        </p:txBody>
      </p:sp>
    </p:spTree>
    <p:extLst>
      <p:ext uri="{BB962C8B-B14F-4D97-AF65-F5344CB8AC3E}">
        <p14:creationId xmlns:p14="http://schemas.microsoft.com/office/powerpoint/2010/main" val="111722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2026-10-09T06:04:52.2210000Z</dcterms:created>
  <dcterms:modified xsi:type="dcterms:W3CDTF">2026-10-09T06:04:52.2210000Z</dcterms:modified>
</coreProperties>
</file>