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709b3d1dfb4115" /><Relationship Type="http://schemas.openxmlformats.org/officeDocument/2006/relationships/extended-properties" Target="/docProps/app.xml" Id="R49bdd1b5f4be42bf" /><Relationship Type="http://schemas.openxmlformats.org/officeDocument/2006/relationships/officeDocument" Target="/ppt/presentation.xml" Id="Rf6dac20f67704e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a24410bfc845b4"/>
  </p:sldMasterIdLst>
  <p:notesMasterIdLst>
    <p:notesMasterId xmlns:r="http://schemas.openxmlformats.org/officeDocument/2006/relationships" r:id="R3afb3ad725934a21"/>
  </p:notesMasterIdLst>
  <p:sldIdLst>
    <p:sldId xmlns:r="http://schemas.openxmlformats.org/officeDocument/2006/relationships" id="256" r:id="R3799483c35a8490d"/>
    <p:sldId xmlns:r="http://schemas.openxmlformats.org/officeDocument/2006/relationships" id="257" r:id="R93b227ff6fee429a"/>
    <p:sldId xmlns:r="http://schemas.openxmlformats.org/officeDocument/2006/relationships" id="258" r:id="Rf4f8018e96bb41ac"/>
    <p:sldId xmlns:r="http://schemas.openxmlformats.org/officeDocument/2006/relationships" id="259" r:id="Ra8d141e9bf0e4da1"/>
    <p:sldId xmlns:r="http://schemas.openxmlformats.org/officeDocument/2006/relationships" id="260" r:id="R16e32a22fa9f48bf"/>
    <p:sldId xmlns:r="http://schemas.openxmlformats.org/officeDocument/2006/relationships" id="261" r:id="R79a3738da22c4e21"/>
    <p:sldId xmlns:r="http://schemas.openxmlformats.org/officeDocument/2006/relationships" id="262" r:id="R265524d8042649b6"/>
    <p:sldId xmlns:r="http://schemas.openxmlformats.org/officeDocument/2006/relationships" id="263" r:id="R72387b0db048409e"/>
    <p:sldId xmlns:r="http://schemas.openxmlformats.org/officeDocument/2006/relationships" id="264" r:id="R3946ea554af74b4b"/>
    <p:sldId xmlns:r="http://schemas.openxmlformats.org/officeDocument/2006/relationships" id="265" r:id="Rff5a54f76b8d4e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e699413e184d52" /><Relationship Type="http://schemas.openxmlformats.org/officeDocument/2006/relationships/slideMaster" Target="/ppt/slideMasters/slideMaster1.xml" Id="R7fa24410bfc845b4" /><Relationship Type="http://schemas.openxmlformats.org/officeDocument/2006/relationships/notesMaster" Target="/ppt/notesMasters/notesMaster1.xml" Id="R3afb3ad725934a21" /><Relationship Type="http://schemas.openxmlformats.org/officeDocument/2006/relationships/presProps" Target="/ppt/presProps.xml" Id="Re47466eaf5234879" /><Relationship Type="http://schemas.openxmlformats.org/officeDocument/2006/relationships/tableStyles" Target="/ppt/tableStyles.xml" Id="R5ab70a2af348475b" /><Relationship Type="http://schemas.openxmlformats.org/officeDocument/2006/relationships/slide" Target="/ppt/slides/slide1.xml" Id="R3799483c35a8490d" /><Relationship Type="http://schemas.openxmlformats.org/officeDocument/2006/relationships/slide" Target="/ppt/slides/slide2.xml" Id="R93b227ff6fee429a" /><Relationship Type="http://schemas.openxmlformats.org/officeDocument/2006/relationships/slide" Target="/ppt/slides/slide3.xml" Id="Rf4f8018e96bb41ac" /><Relationship Type="http://schemas.openxmlformats.org/officeDocument/2006/relationships/slide" Target="/ppt/slides/slide4.xml" Id="Ra8d141e9bf0e4da1" /><Relationship Type="http://schemas.openxmlformats.org/officeDocument/2006/relationships/slide" Target="/ppt/slides/slide5.xml" Id="R16e32a22fa9f48bf" /><Relationship Type="http://schemas.openxmlformats.org/officeDocument/2006/relationships/slide" Target="/ppt/slides/slide6.xml" Id="R79a3738da22c4e21" /><Relationship Type="http://schemas.openxmlformats.org/officeDocument/2006/relationships/slide" Target="/ppt/slides/slide7.xml" Id="R265524d8042649b6" /><Relationship Type="http://schemas.openxmlformats.org/officeDocument/2006/relationships/slide" Target="/ppt/slides/slide8.xml" Id="R72387b0db048409e" /><Relationship Type="http://schemas.openxmlformats.org/officeDocument/2006/relationships/slide" Target="/ppt/slides/slide9.xml" Id="R3946ea554af74b4b" /><Relationship Type="http://schemas.openxmlformats.org/officeDocument/2006/relationships/slide" Target="/ppt/slides/slide10.xml" Id="Rff5a54f76b8d4e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e0a46ff8d74c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007f597a73476d" /><Relationship Type="http://schemas.openxmlformats.org/officeDocument/2006/relationships/notesMaster" Target="/ppt/notesMasters/notesMaster1.xml" Id="R7b2d75abed5149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2b010e0b214a8f" /><Relationship Type="http://schemas.openxmlformats.org/officeDocument/2006/relationships/notesMaster" Target="/ppt/notesMasters/notesMaster1.xml" Id="Ra8cd72b3f99f46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7157ac36d9433e" /><Relationship Type="http://schemas.openxmlformats.org/officeDocument/2006/relationships/notesMaster" Target="/ppt/notesMasters/notesMaster1.xml" Id="R3b7e45161eab48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e2cf09ec294b6e" /><Relationship Type="http://schemas.openxmlformats.org/officeDocument/2006/relationships/notesMaster" Target="/ppt/notesMasters/notesMaster1.xml" Id="R5564801d120749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a0abad6f8e4c56" /><Relationship Type="http://schemas.openxmlformats.org/officeDocument/2006/relationships/notesMaster" Target="/ppt/notesMasters/notesMaster1.xml" Id="Rb9512b3dea4844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9c53936df84020" /><Relationship Type="http://schemas.openxmlformats.org/officeDocument/2006/relationships/notesMaster" Target="/ppt/notesMasters/notesMaster1.xml" Id="R47e1faf3e33143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a78ad10d344898" /><Relationship Type="http://schemas.openxmlformats.org/officeDocument/2006/relationships/notesMaster" Target="/ppt/notesMasters/notesMaster1.xml" Id="Re375521008b342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ac3d9960d049b9" /><Relationship Type="http://schemas.openxmlformats.org/officeDocument/2006/relationships/notesMaster" Target="/ppt/notesMasters/notesMaster1.xml" Id="R14cae1aafff748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22b1327fb34fb2" /><Relationship Type="http://schemas.openxmlformats.org/officeDocument/2006/relationships/notesMaster" Target="/ppt/notesMasters/notesMaster1.xml" Id="Rc2d681831dee41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7b559eecd94835" /><Relationship Type="http://schemas.openxmlformats.org/officeDocument/2006/relationships/notesMaster" Target="/ppt/notesMasters/notesMaster1.xml" Id="Ra558f8dcbd6c46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237eecae64d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17791d74947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fcaa7aacca48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8fb2f8c834b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a7033713846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0dbc14c1d4c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40633C-E503-4CAB-B5C8-F7E95A1019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657AF2-0451-4BB6-A4EC-5FD4094E5B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383753-F924-4954-B8CD-22A26CF808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6AFDFD-D902-4D04-966B-C2DEC65DD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DF27A9-3D88-4668-BE1A-B3D6ED672B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654716-17D7-47AA-89C6-10629047FF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4545F7-953A-4777-8F9E-D16F3D0397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D52142-7218-4981-854B-0268A2780D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35C34A-9AC3-438A-B277-49F01387BC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58DF58-2CE7-4A94-90D0-4C74D8EBBD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271a76ad2e48d6" /><Relationship Type="http://schemas.openxmlformats.org/officeDocument/2006/relationships/slideLayout" Target="/ppt/slideLayouts/slideLayout1.xml" Id="Rca6add6d1e714241" /><Relationship Type="http://schemas.openxmlformats.org/officeDocument/2006/relationships/slideLayout" Target="/ppt/slideLayouts/slideLayout2.xml" Id="Rfff8b2a6f89a4ab5" /><Relationship Type="http://schemas.openxmlformats.org/officeDocument/2006/relationships/slideLayout" Target="/ppt/slideLayouts/slideLayout3.xml" Id="Rd81b29f5fd5c430b" /><Relationship Type="http://schemas.openxmlformats.org/officeDocument/2006/relationships/slideLayout" Target="/ppt/slideLayouts/slideLayout4.xml" Id="R4d2ce8278e7b40b0" /><Relationship Type="http://schemas.openxmlformats.org/officeDocument/2006/relationships/slideLayout" Target="/ppt/slideLayouts/slideLayout5.xml" Id="R8cf5e27cc3c04e63" /><Relationship Type="http://schemas.openxmlformats.org/officeDocument/2006/relationships/slideLayout" Target="/ppt/slideLayouts/slideLayout6.xml" Id="R779d43d9d9b54a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6add6d1e714241"/>
    <p:sldLayoutId xmlns:r="http://schemas.openxmlformats.org/officeDocument/2006/relationships" id="2147483650" r:id="Rfff8b2a6f89a4ab5"/>
    <p:sldLayoutId xmlns:r="http://schemas.openxmlformats.org/officeDocument/2006/relationships" id="2147483651" r:id="Rd81b29f5fd5c430b"/>
    <p:sldLayoutId xmlns:r="http://schemas.openxmlformats.org/officeDocument/2006/relationships" id="2147483652" r:id="R4d2ce8278e7b40b0"/>
    <p:sldLayoutId xmlns:r="http://schemas.openxmlformats.org/officeDocument/2006/relationships" id="2147483653" r:id="R8cf5e27cc3c04e63"/>
    <p:sldLayoutId xmlns:r="http://schemas.openxmlformats.org/officeDocument/2006/relationships" id="2147483654" r:id="R779d43d9d9b54a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022448c01b499c" /><Relationship Type="http://schemas.openxmlformats.org/officeDocument/2006/relationships/notesSlide" Target="/ppt/notesSlides/notesSlide1.xml" Id="R103868c479d14f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01e5d087740ac" /><Relationship Type="http://schemas.openxmlformats.org/officeDocument/2006/relationships/notesSlide" Target="/ppt/notesSlides/notesSlide2.xml" Id="R4cf3decc04354d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350a3c85454258" /><Relationship Type="http://schemas.openxmlformats.org/officeDocument/2006/relationships/notesSlide" Target="/ppt/notesSlides/notesSlide3.xml" Id="Rcf157a8391fa44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2163fe97624e2e" /><Relationship Type="http://schemas.openxmlformats.org/officeDocument/2006/relationships/notesSlide" Target="/ppt/notesSlides/notesSlide4.xml" Id="R29bb068ebf3048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c0ca0b5244a1e" /><Relationship Type="http://schemas.openxmlformats.org/officeDocument/2006/relationships/notesSlide" Target="/ppt/notesSlides/notesSlide5.xml" Id="R3db3829475854c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3b2f5aea24bd5" /><Relationship Type="http://schemas.openxmlformats.org/officeDocument/2006/relationships/notesSlide" Target="/ppt/notesSlides/notesSlide6.xml" Id="R1b053dd9b8184a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fd2bca0d442b5" /><Relationship Type="http://schemas.openxmlformats.org/officeDocument/2006/relationships/notesSlide" Target="/ppt/notesSlides/notesSlide7.xml" Id="R7b6167a7057046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8123b951d46af" /><Relationship Type="http://schemas.openxmlformats.org/officeDocument/2006/relationships/notesSlide" Target="/ppt/notesSlides/notesSlide8.xml" Id="R1cd0887f543347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3ea3ef833447d6" /><Relationship Type="http://schemas.openxmlformats.org/officeDocument/2006/relationships/chart" Target="/ppt/slides/charts/chart1.xml" Id="R479779f3416a435a" /><Relationship Type="http://schemas.openxmlformats.org/officeDocument/2006/relationships/notesSlide" Target="/ppt/notesSlides/notesSlide9.xml" Id="Re9af2f41246a44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0f51348084a58" /><Relationship Type="http://schemas.openxmlformats.org/officeDocument/2006/relationships/notesSlide" Target="/ppt/notesSlides/notesSlide10.xml" Id="Re971e34da4c44ba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Probabilidad normalizada</c:v>
          </c:tx>
          <c:spPr>
            <a:solidFill xmlns:a="http://schemas.openxmlformats.org/drawingml/2006/main">
              <a:srgbClr val="286DA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1495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7271"/>
              </a:solidFill>
            </c:spPr>
          </c:dPt>
          <c:cat>
            <c:strLit>
              <c:ptCount val="2"/>
              <c:pt idx="0">
                <c:v>Spam</c:v>
              </c:pt>
              <c:pt idx="1">
                <c:v>Legítimo</c:v>
              </c:pt>
            </c:strLit>
          </c:cat>
          <c:val>
            <c:numLit>
              <c:formatCode>General</c:formatCode>
              <c:ptCount val="2"/>
              <c:pt idx="0">
                <c:v>76.87</c:v>
              </c:pt>
              <c:pt idx="1">
                <c:v>23.13</c:v>
              </c:pt>
            </c:numLit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B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3E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3EA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ADE4F-4D68-4029-B63D-37715491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30537-D55B-4543-A79C-DFF76AE1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Naive Bayes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BBCEF-FCDA-4942-90B2-0A52C227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0">
                <a:solidFill>
                  <a:srgbClr val="DCE6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DCE6F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CE6F0"/>
                </a:solidFill>
                <a:latin typeface="Arial"/>
                <a:ea typeface="Arial"/>
                <a:cs typeface="Arial"/>
              </a:rPr>
              <a:t>Clasificación de mensajes spam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4CBC5-2DF9-4282-A5CD-3699DC0C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B9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B942"/>
                </a:solidFill>
                <a:latin typeface="Arial"/>
                <a:ea typeface="Arial"/>
                <a:cs typeface="Arial"/>
              </a:rPr>
              <a:t>Del cálculo en la pizarra a la ejecución en Python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49E29-018F-4BB4-9B74-5FAD5835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FC2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FC2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2D4"/>
                </a:solidFill>
                <a:latin typeface="Arial"/>
                <a:ea typeface="Arial"/>
                <a:cs typeface="Arial"/>
              </a:rPr>
              <a:t>Inteligencia Artificial · Semana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02665-D4E1-4DF8-8C0E-8DA211CE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8120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ABC5A-36BA-40D1-99E0-D4D0BAE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2619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7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LEGÍTIMO</a:t>
            </a:r>
          </a:p>
        </p:txBody>
      </p:sp>
    </p:spTree>
    <p:extLst>
      <p:ext uri="{BB962C8B-B14F-4D97-AF65-F5344CB8AC3E}">
        <p14:creationId xmlns:p14="http://schemas.microsoft.com/office/powerpoint/2010/main" val="1734241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FA16E-69F1-4F69-B45D-70F78D39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Ocho mensajes para aprender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6A9E9-CB9E-42D1-9C04-D5298032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1B720-4C23-4FFC-B0F5-CE4B74F8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43045-0177-4BBF-956F-F47306C2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Cada mensaje aporta palabras y una etiqueta conocida.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8BF87-CD83-41C7-A390-1910EE5056F7}"/>
              </a:ext>
            </a:extLst>
          </p:cNvPr>
          <p:cNvGraphicFramePr/>
          <p:nvPr/>
        </p:nvGraphicFramePr>
        <p:xfrm>
          <a:off xmlns:a="http://schemas.openxmlformats.org/drawingml/2006/main" x="1428750" y="1790700"/>
          <a:ext xmlns:a="http://schemas.openxmlformats.org/drawingml/2006/main" cx="93345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48500"/>
                <a:gridCol w="2286000"/>
              </a:tblGrid>
              <a:tr h="4762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Mensaje</a:t>
                      </a:r>
                    </a:p>
                  </a:txBody>
                  <a:tcPr marL="133350" marR="133350" marT="76200" marB="7620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Clase</a:t>
                      </a:r>
                    </a:p>
                  </a:txBody>
                  <a:tcPr marL="133350" marR="133350" marT="76200" marB="76200" anchor="ctr">
                    <a:solidFill>
                      <a:srgbClr val="102A4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gana un premio ahora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reclama tu premio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oferta exclusiva hoy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recibe dinero rápido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nos vemos mañana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legítimo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entrega la tarea mañana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legítimo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reunión de clase hoy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legítimo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puedes traer el material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legítimo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2630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5F0F1-7BD3-43AD-8B74-AA970776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Total de palabras en cada clase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E991D-53C0-4353-864A-5934603B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DAB47-B079-42DE-9E7A-9BC77B2A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6E100-BC16-450F-9062-ED15FB85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Contamos todas las apariciones, incluso cuando una palabra se repite.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EA0EB-435C-4CB4-8305-4071C58F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28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SPAM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AABCA-3855-4979-B9DB-6B282FAD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476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gana un premio ahora                 4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reclama tu premio                    3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oferta exclusiva hoy                 3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recibe dinero rápido                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EA598-5856-4108-AB13-A77663C7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 + 3 + 3 + 3 = 13 palabras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0D2CB-BAD6-4C2E-B9ED-4B2FD783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28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872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8727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87271"/>
                </a:solidFill>
                <a:latin typeface="Arial"/>
                <a:ea typeface="Arial"/>
                <a:cs typeface="Arial"/>
              </a:rPr>
              <a:t>LEGÍTIMO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C0E5F-966C-4647-9FBA-C975C725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33625"/>
            <a:ext cx="476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nos vemos mañana                     3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entrega la tarea mañana              4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reunión de clase hoy                 4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puedes traer el material            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B9C43-9229-4796-BC4F-01C4203B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243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 + 4 + 4 + 4 = 15 palabras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F58B4-D51B-4D99-A09F-728DB938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Los denominadores de Laplace usarán estos totales: 13 para spam y 15 para legítimo.</a:t>
            </a:r>
          </a:p>
        </p:txBody>
      </p:sp>
    </p:spTree>
    <p:extLst>
      <p:ext uri="{BB962C8B-B14F-4D97-AF65-F5344CB8AC3E}">
        <p14:creationId xmlns:p14="http://schemas.microsoft.com/office/powerpoint/2010/main" val="1058841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27773-D275-4D9D-A5AA-122C1B29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Vocabulario de 25 palabras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1A86F-0AA8-40F9-9853-794E7FD0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72F6F-AA46-42F8-82E3-4BE9011F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BA743-BFFE-47FD-8555-D13B7236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El vocabulario cuenta palabras diferentes en los ocho mensajes.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44A3E-5BF5-4866-99F3-B9ADE389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ahora, clase, de, dinero, el, entrega, exclusiva, gana, hoy,</a:t>
            </a:r>
          </a:p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la, mañana, material, nos, oferta, premio, puedes, rápido,</a:t>
            </a:r>
          </a:p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recibe, reclama, reunión, tarea, traer, tu, un, vemos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E88AA-75E3-4AC2-A19E-2437AFB0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81500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E9186-179D-4E44-9E6E-1B76BC94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97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Palabras distintas en spam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4A0CB-D6CB-4951-B870-11C38A28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339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9391E-0225-4F56-8D6B-18A243AB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BCEA4-084C-4E0C-B254-BC5E2616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529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053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Palabras distintas en legítimo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47121-DF8E-49F5-B913-3A4850DA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339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C3FA0-3842-4C69-A1A0-1DE10658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81500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183D3-6246-4D09-9EDC-DED16A60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5529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303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“hoy” aparece en ambas clases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E0B0D-79D4-4982-B803-196C6918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9339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12 + 14 − 1 = 25</a:t>
            </a:r>
          </a:p>
        </p:txBody>
      </p:sp>
    </p:spTree>
    <p:extLst>
      <p:ext uri="{BB962C8B-B14F-4D97-AF65-F5344CB8AC3E}">
        <p14:creationId xmlns:p14="http://schemas.microsoft.com/office/powerpoint/2010/main" val="1655879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6BC40-3C6D-4B2E-BBF6-96590A9F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Fórmula de Bayes para dos palabras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F0CAF-2041-426E-B1C9-4B152D80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856B5-3314-45F2-8102-0B5B60E9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08AEE-12BE-4DDF-B4A0-41B0B9FD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Mensaje nuevo: “premio hoy”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A2AB9-3064-4C6C-A2C2-F5399475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1019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P(C | premio, hoy) = P(premio, hoy | C) × P(C) / P(premio, hoy)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7A106-1859-44C5-8B46-98C172DF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00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Suposición ingenua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7C748-DE1C-4787-B4FA-EDA3BE8C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29000"/>
            <a:ext cx="704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P(premio, hoy | C) ≈ P(premio | C) × P(hoy | C)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416D8-EA08-434C-A4BB-6F8CC5C9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72000"/>
            <a:ext cx="4476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94F27-74A3-4337-A13A-3B57F5F9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7434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4 mensajes spam de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F4F78-55ED-40B0-B73C-1A5D50FD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124450"/>
            <a:ext cx="4019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P(spam) = 4/8 = 0.50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681A9-72AB-4FEF-98FB-C5A019E9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72000"/>
            <a:ext cx="4476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6EF84-B73D-412B-A552-39F420B0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7434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4 mensajes legítimos de 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F3D15-BDA2-4039-892F-D3A08ABD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124450"/>
            <a:ext cx="4019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P(legítimo) = 4/8 = 0.50</a:t>
            </a:r>
          </a:p>
        </p:txBody>
      </p:sp>
    </p:spTree>
    <p:extLst>
      <p:ext uri="{BB962C8B-B14F-4D97-AF65-F5344CB8AC3E}">
        <p14:creationId xmlns:p14="http://schemas.microsoft.com/office/powerpoint/2010/main" val="7088235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2A274-F616-445A-B9B1-08A34CF8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Conteos de “premio” y “hoy”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570F5-B71B-43C8-A40A-4C9E45E8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88920-0F95-496E-9377-E32E80FB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870B1-6248-42C0-8A89-645A4BCC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Buscamos cada palabra del mensaje nuevo dentro de los ocho mensajes de entrenamiento.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8C58C-06B0-4C1A-BAD4-28CA667D1E22}"/>
              </a:ext>
            </a:extLst>
          </p:cNvPr>
          <p:cNvGraphicFramePr/>
          <p:nvPr/>
        </p:nvGraphicFramePr>
        <p:xfrm>
          <a:off xmlns:a="http://schemas.openxmlformats.org/drawingml/2006/main" x="1000125" y="2047875"/>
          <a:ext xmlns:a="http://schemas.openxmlformats.org/drawingml/2006/main" cx="1019175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619250"/>
                <a:gridCol w="1809750"/>
                <a:gridCol w="4953000"/>
              </a:tblGrid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Palabra</a:t>
                      </a:r>
                    </a:p>
                  </a:txBody>
                  <a:tcPr marL="114300" marR="114300" marT="76200" marB="7620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 spam</a:t>
                      </a:r>
                    </a:p>
                  </a:txBody>
                  <a:tcPr marL="114300" marR="114300" marT="76200" marB="7620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 legítimo</a:t>
                      </a:r>
                    </a:p>
                  </a:txBody>
                  <a:tcPr marL="114300" marR="114300" marT="76200" marB="7620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Origen del conteo</a:t>
                      </a:r>
                    </a:p>
                  </a:txBody>
                  <a:tcPr marL="114300" marR="114300" marT="76200" marB="76200" anchor="ctr">
                    <a:solidFill>
                      <a:srgbClr val="102A4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premio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 1 y 2; no aparece en legítimo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hoy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 3 y legítimo 7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AC1C2-C567-446B-B936-57B7FE46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Estos cuatro conteos son los numeradores antes del suavizado: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D7714-60E6-4BA2-A4C7-5E55D25B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971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spam: premio = 2, hoy = 1       legítimo: premio = 0, hoy = 1</a:t>
            </a:r>
          </a:p>
        </p:txBody>
      </p:sp>
    </p:spTree>
    <p:extLst>
      <p:ext uri="{BB962C8B-B14F-4D97-AF65-F5344CB8AC3E}">
        <p14:creationId xmlns:p14="http://schemas.microsoft.com/office/powerpoint/2010/main" val="16741430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0E8C0-22D1-4BE5-9E98-37B86658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Probabilidades con suavizado de Laplace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71621-67FE-4032-B980-06B5CBD3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004D8-89A3-4131-BE41-DD6E6366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0FB39-A9DF-4C69-B52D-20D4E4C0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85875"/>
            <a:ext cx="1019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P(palabra | clase) = (conteo + 1) / (total de palabras de la clase + V)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1024B-E2F1-440D-AFE8-D8C365DA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5429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F9A3A-F811-4931-83AB-BE3BA534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05075"/>
            <a:ext cx="497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Spam: denominador = 13 + 25 = 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76E5B-74DC-468E-A6C7-837F06AA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86075"/>
            <a:ext cx="49720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P(premio | spam) = (2+1)/38 = 3/38 = 0.078947</a:t>
            </a:r>
          </a:p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P(hoy | spam) = (1+1)/38 = 2/38 = 0.052632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1471F-2AE8-4CEB-AEFC-4E92F891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33625"/>
            <a:ext cx="5429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0F575-9AEA-4877-BADC-DE1769D3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05075"/>
            <a:ext cx="497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Legítimo: denominador = 15 + 25 = 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0A6A6-8A09-48A6-AEFB-284F0D99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86075"/>
            <a:ext cx="49720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P(premio | legítimo) = (0+1)/40 = 1/40 = 0.025000</a:t>
            </a:r>
          </a:p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P(hoy | legítimo) = (1+1)/40 = 2/40 = 0.050000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B7B25-5613-441D-8DD8-579D0CF4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+1 evita que P(premio | legítimo) sea cero y anule todo el puntaje legítimo.</a:t>
            </a:r>
          </a:p>
        </p:txBody>
      </p:sp>
    </p:spTree>
    <p:extLst>
      <p:ext uri="{BB962C8B-B14F-4D97-AF65-F5344CB8AC3E}">
        <p14:creationId xmlns:p14="http://schemas.microsoft.com/office/powerpoint/2010/main" val="17721751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59B64-372F-44B1-832E-047129E2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Puntajes antes de normalizar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1D54B-4D05-4D2A-908F-C9AE3B02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8C201-4876-40DB-AAB8-CD1593F2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13F08-DBBF-4B38-AB17-FAE3634E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Para comparar clases usamos P(C) × P(premio | C) × P(hoy | C).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09A10-C7B2-45A1-9BCA-3E18F8B3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476250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4DB3E-09FD-49A2-AC41-6712AB82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2193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Puntaje de spam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01771-7221-4357-A224-CA1AF26C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00325"/>
            <a:ext cx="430530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0.50 × 3/38 × 2/38</a:t>
            </a:r>
          </a:p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= 3/1444</a:t>
            </a:r>
          </a:p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= 0.00207756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FA711-D931-4CFF-B30E-57C6A679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476250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FA389-C418-4180-99D4-0A5EB7BB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193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Puntaje de legítimo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422CE-A424-483F-A23C-15BE24B8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00325"/>
            <a:ext cx="430530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0.50 × 1/40 × 2/40</a:t>
            </a:r>
          </a:p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= 1/1600</a:t>
            </a:r>
          </a:p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= 0.00062500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E33D3-DDD4-4241-9B5C-CED39D86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00625"/>
            <a:ext cx="704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102A4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02A43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0.00207756 &gt; 0.00062500</a:t>
            </a:r>
          </a:p>
        </p:txBody>
      </p:sp>
    </p:spTree>
    <p:extLst>
      <p:ext uri="{BB962C8B-B14F-4D97-AF65-F5344CB8AC3E}">
        <p14:creationId xmlns:p14="http://schemas.microsoft.com/office/powerpoint/2010/main" val="18325419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57416-EC3E-4D7D-87D5-D324ABF3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Normalización y predicción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42835-B36D-4824-BCCD-9C42FA99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E3584-677A-4196-8F7F-ED9B51F3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9D3EE-FC4D-44F8-85B3-FB1C6284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23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Suma = 0.00207756 + 0.00062500 = 0.00270256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308D6-6FC1-4F59-BE88-4219D944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P(spam | mensaje) = 0.00207756 / 0.00270256 = 76.87%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P(legítimo | mensaje) = 0.00062500 / 0.00270256 = 23.13%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F3ACD-CFE3-483E-B42F-5214BDE7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SPAM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092778B-C08C-483D-9ACC-F97F5050694A}"/>
              </a:ext>
            </a:extLst>
          </p:cNvPr>
          <p:cNvGraphicFramePr/>
          <p:nvPr/>
        </p:nvGraphicFramePr>
        <p:xfrm>
          <a:off xmlns:a="http://schemas.openxmlformats.org/drawingml/2006/main" x="6191250" y="1524000"/>
          <a:ext xmlns:a="http://schemas.openxmlformats.org/drawingml/2006/main" cx="4762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9779f3416a435a"/>
          </a:graphicData>
        </a:graphic>
      </p:graphicFrame>
    </p:spTree>
    <p:extLst>
      <p:ext uri="{BB962C8B-B14F-4D97-AF65-F5344CB8AC3E}">
        <p14:creationId xmlns:p14="http://schemas.microsoft.com/office/powerpoint/2010/main" val="18236561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10502-F2D6-4780-AD22-EFC2B277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mismo cálculo en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D882F-6C72-467E-BEE7-CA5BF158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E7A77-E9FB-49BE-A353-BD5B2955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D445D-6039-46A5-8D17-D84B0A58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Cálculo central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0102D-F052-4906-BA99-784934B1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381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probabilidad_previa = documentos_clase / total_documentos</a:t>
            </a:r>
          </a:p>
          <a:p xmlns:a="http://schemas.openxmlformats.org/drawingml/2006/main">
            <a: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puntaje = log(probabilidad_previa)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palabra in palabras:</a:t>
            </a:r>
          </a:p>
          <a:p xmlns:a="http://schemas.openxmlformats.org/drawingml/2006/main">
            <a: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puntaje += log(P(palabra | clase))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E7702-0C82-4B75-AC9C-2FAA90E2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Ejecución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C0733-2928-4144-B419-889AAB53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933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python codigo\naive_bayes_spam.py --solo-pizarra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Documentos: 8    Vocabulario: 25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Spam: 13 palabras    Legítimo: 15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P(premio|spam) = 3/38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P(hoy|spam) = 2/38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P(spam|mensaje) = 76.87%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Predicción: SPAM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AB73E-E4A7-49C3-9440-EBABF70E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Después, sin --solo-pizarra, el programa evalúa el CSV completo y abre la visualización.</a:t>
            </a:r>
          </a:p>
        </p:txBody>
      </p:sp>
    </p:spTree>
    <p:extLst>
      <p:ext uri="{BB962C8B-B14F-4D97-AF65-F5344CB8AC3E}">
        <p14:creationId xmlns:p14="http://schemas.microsoft.com/office/powerpoint/2010/main" val="560256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2026-10-09T06:03:37.3260000Z</dcterms:created>
  <dcterms:modified xsi:type="dcterms:W3CDTF">2026-10-09T06:03:37.3260000Z</dcterms:modified>
</coreProperties>
</file>